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8288000" cy="10287000"/>
  <p:notesSz cx="6858000" cy="9144000"/>
  <p:embeddedFontLst>
    <p:embeddedFont>
      <p:font typeface="Copperplate Gothic 32 AB" panose="020B0604020202020204" charset="0"/>
      <p:regular r:id="rId9"/>
    </p:embeddedFont>
    <p:embeddedFont>
      <p:font typeface="HK Modular" panose="020B0604020202020204" charset="0"/>
      <p:regular r:id="rId10"/>
    </p:embeddedFont>
    <p:embeddedFont>
      <p:font typeface="Play" panose="020B0604020202020204" charset="0"/>
      <p:regular r:id="rId11"/>
    </p:embeddedFont>
    <p:embeddedFont>
      <p:font typeface="Play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2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yash batra" userId="deb6060ce91ae9b1" providerId="LiveId" clId="{B0C2E99F-8005-47AA-B878-87E854460B10}"/>
    <pc:docChg chg="delSld">
      <pc:chgData name="suyash batra" userId="deb6060ce91ae9b1" providerId="LiveId" clId="{B0C2E99F-8005-47AA-B878-87E854460B10}" dt="2025-12-18T19:40:27.925" v="0" actId="47"/>
      <pc:docMkLst>
        <pc:docMk/>
      </pc:docMkLst>
      <pc:sldChg chg="del">
        <pc:chgData name="suyash batra" userId="deb6060ce91ae9b1" providerId="LiveId" clId="{B0C2E99F-8005-47AA-B878-87E854460B10}" dt="2025-12-18T19:40:27.925" v="0" actId="47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790472"/>
            <a:ext cx="3502132" cy="3496528"/>
            <a:chOff x="0" y="0"/>
            <a:chExt cx="6350000" cy="6339840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279D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64970" y="3742472"/>
            <a:ext cx="16394330" cy="304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</a:pPr>
            <a:r>
              <a:rPr lang="en-US" sz="10038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Role of Artificial Intelligence in Traffic Optimization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840477" y="-895577"/>
            <a:ext cx="8072794" cy="6491502"/>
            <a:chOff x="0" y="0"/>
            <a:chExt cx="10763725" cy="8655336"/>
          </a:xfrm>
        </p:grpSpPr>
        <p:grpSp>
          <p:nvGrpSpPr>
            <p:cNvPr id="6" name="Group 6"/>
            <p:cNvGrpSpPr/>
            <p:nvPr/>
          </p:nvGrpSpPr>
          <p:grpSpPr>
            <a:xfrm rot="2700000">
              <a:off x="5010073" y="5221574"/>
              <a:ext cx="6125442" cy="1485661"/>
              <a:chOff x="0" y="0"/>
              <a:chExt cx="26301750" cy="637921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2279D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2700000">
              <a:off x="3946191" y="2040224"/>
              <a:ext cx="6125442" cy="1485661"/>
              <a:chOff x="0" y="0"/>
              <a:chExt cx="26301750" cy="637921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2700000">
              <a:off x="-371790" y="1948101"/>
              <a:ext cx="6125442" cy="1485661"/>
              <a:chOff x="0" y="0"/>
              <a:chExt cx="26301750" cy="637921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2279D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19574" y="3266052"/>
            <a:ext cx="7188914" cy="8764322"/>
            <a:chOff x="0" y="0"/>
            <a:chExt cx="9585219" cy="11685763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-562750" y="7790982"/>
              <a:ext cx="7429400" cy="1485661"/>
              <a:chOff x="0" y="0"/>
              <a:chExt cx="31900754" cy="637921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1900754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31900754" h="6379210">
                    <a:moveTo>
                      <a:pt x="25204906" y="0"/>
                    </a:moveTo>
                    <a:lnTo>
                      <a:pt x="8024961" y="0"/>
                    </a:lnTo>
                    <a:lnTo>
                      <a:pt x="6736517" y="7620"/>
                    </a:lnTo>
                    <a:lnTo>
                      <a:pt x="0" y="6379210"/>
                    </a:lnTo>
                    <a:lnTo>
                      <a:pt x="25254845" y="6379210"/>
                    </a:lnTo>
                    <a:lnTo>
                      <a:pt x="31900754" y="0"/>
                    </a:lnTo>
                    <a:close/>
                  </a:path>
                </a:pathLst>
              </a:custGeom>
              <a:solidFill>
                <a:srgbClr val="1E1E1E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 rot="-2700000">
              <a:off x="3734095" y="6248668"/>
              <a:ext cx="6125442" cy="1485661"/>
              <a:chOff x="0" y="0"/>
              <a:chExt cx="26301750" cy="637921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2279D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2700000">
              <a:off x="3831566" y="1948101"/>
              <a:ext cx="6125442" cy="1485661"/>
              <a:chOff x="0" y="0"/>
              <a:chExt cx="26301750" cy="637921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2279D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10597980" y="0"/>
            <a:ext cx="7690020" cy="10287000"/>
          </a:xfrm>
          <a:custGeom>
            <a:avLst/>
            <a:gdLst/>
            <a:ahLst/>
            <a:cxnLst/>
            <a:rect l="l" t="t" r="r" b="b"/>
            <a:pathLst>
              <a:path w="7690020" h="10287000">
                <a:moveTo>
                  <a:pt x="0" y="0"/>
                </a:moveTo>
                <a:lnTo>
                  <a:pt x="7690020" y="0"/>
                </a:lnTo>
                <a:lnTo>
                  <a:pt x="76900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206" b="-62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256099" y="1613167"/>
            <a:ext cx="14457933" cy="12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 spc="-80">
                <a:solidFill>
                  <a:srgbClr val="2279DF"/>
                </a:solidFill>
                <a:latin typeface="Play Bold"/>
                <a:ea typeface="Play Bold"/>
                <a:cs typeface="Play Bold"/>
                <a:sym typeface="Play Bold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495518"/>
            <a:ext cx="10239073" cy="434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l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1E1E1E"/>
                </a:solidFill>
                <a:latin typeface="Play"/>
                <a:ea typeface="Play"/>
                <a:cs typeface="Play"/>
                <a:sym typeface="Play"/>
              </a:rPr>
              <a:t>Urbanisation increases traffic congestion</a:t>
            </a:r>
          </a:p>
          <a:p>
            <a:pPr marL="755646" lvl="1" indent="-377823" algn="l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1E1E1E"/>
                </a:solidFill>
                <a:latin typeface="Play"/>
                <a:ea typeface="Play"/>
                <a:cs typeface="Play"/>
                <a:sym typeface="Play"/>
              </a:rPr>
              <a:t>AI enables adaptive control</a:t>
            </a:r>
          </a:p>
          <a:p>
            <a:pPr marL="755646" lvl="1" indent="-377823" algn="l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1E1E1E"/>
                </a:solidFill>
                <a:latin typeface="Play"/>
                <a:ea typeface="Play"/>
                <a:cs typeface="Play"/>
                <a:sym typeface="Play"/>
              </a:rPr>
              <a:t>DRL optimises traffic signals</a:t>
            </a:r>
          </a:p>
          <a:p>
            <a:pPr marL="755646" lvl="1" indent="-377823" algn="l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1E1E1E"/>
                </a:solidFill>
                <a:latin typeface="Play"/>
                <a:ea typeface="Play"/>
                <a:cs typeface="Play"/>
                <a:sym typeface="Play"/>
              </a:rPr>
              <a:t>Pune faces severe congestion</a:t>
            </a:r>
          </a:p>
          <a:p>
            <a:pPr algn="l">
              <a:lnSpc>
                <a:spcPts val="6999"/>
              </a:lnSpc>
            </a:pPr>
            <a:endParaRPr lang="en-US" sz="3499">
              <a:solidFill>
                <a:srgbClr val="1E1E1E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19574" y="3266052"/>
            <a:ext cx="7188914" cy="8764322"/>
            <a:chOff x="0" y="0"/>
            <a:chExt cx="9585219" cy="11685763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-562750" y="7790982"/>
              <a:ext cx="7429400" cy="1485661"/>
              <a:chOff x="0" y="0"/>
              <a:chExt cx="31900754" cy="637921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1900754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31900754" h="6379210">
                    <a:moveTo>
                      <a:pt x="25204906" y="0"/>
                    </a:moveTo>
                    <a:lnTo>
                      <a:pt x="8024961" y="0"/>
                    </a:lnTo>
                    <a:lnTo>
                      <a:pt x="6736517" y="7620"/>
                    </a:lnTo>
                    <a:lnTo>
                      <a:pt x="0" y="6379210"/>
                    </a:lnTo>
                    <a:lnTo>
                      <a:pt x="25254845" y="6379210"/>
                    </a:lnTo>
                    <a:lnTo>
                      <a:pt x="31900754" y="0"/>
                    </a:lnTo>
                    <a:close/>
                  </a:path>
                </a:pathLst>
              </a:custGeom>
              <a:solidFill>
                <a:srgbClr val="1E1E1E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 rot="-2700000">
              <a:off x="3734095" y="6248668"/>
              <a:ext cx="6125442" cy="1485661"/>
              <a:chOff x="0" y="0"/>
              <a:chExt cx="26301750" cy="637921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2279D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2700000">
              <a:off x="3831566" y="1948101"/>
              <a:ext cx="6125442" cy="1485661"/>
              <a:chOff x="0" y="0"/>
              <a:chExt cx="26301750" cy="637921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2279D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3299612" y="1638275"/>
            <a:ext cx="11264887" cy="8648725"/>
          </a:xfrm>
          <a:custGeom>
            <a:avLst/>
            <a:gdLst/>
            <a:ahLst/>
            <a:cxnLst/>
            <a:rect l="l" t="t" r="r" b="b"/>
            <a:pathLst>
              <a:path w="11264887" h="8648725">
                <a:moveTo>
                  <a:pt x="0" y="0"/>
                </a:moveTo>
                <a:lnTo>
                  <a:pt x="11264887" y="0"/>
                </a:lnTo>
                <a:lnTo>
                  <a:pt x="11264887" y="8648725"/>
                </a:lnTo>
                <a:lnTo>
                  <a:pt x="0" y="8648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834354" y="214481"/>
            <a:ext cx="14457933" cy="12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 spc="-80">
                <a:solidFill>
                  <a:srgbClr val="2279DF"/>
                </a:solidFill>
                <a:latin typeface="Play Bold"/>
                <a:ea typeface="Play Bold"/>
                <a:cs typeface="Play Bold"/>
                <a:sym typeface="Play Bold"/>
              </a:rPr>
              <a:t>Literature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H="1">
            <a:off x="3468561" y="2971804"/>
            <a:ext cx="9535247" cy="6865379"/>
          </a:xfrm>
          <a:custGeom>
            <a:avLst/>
            <a:gdLst/>
            <a:ahLst/>
            <a:cxnLst/>
            <a:rect l="l" t="t" r="r" b="b"/>
            <a:pathLst>
              <a:path w="12713663" h="9153838">
                <a:moveTo>
                  <a:pt x="12713664" y="0"/>
                </a:moveTo>
                <a:lnTo>
                  <a:pt x="0" y="0"/>
                </a:lnTo>
                <a:lnTo>
                  <a:pt x="0" y="9153837"/>
                </a:lnTo>
                <a:lnTo>
                  <a:pt x="12713664" y="9153837"/>
                </a:lnTo>
                <a:lnTo>
                  <a:pt x="127136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112F64E-F516-B070-8CE9-685B871EAB8E}"/>
              </a:ext>
            </a:extLst>
          </p:cNvPr>
          <p:cNvGrpSpPr/>
          <p:nvPr/>
        </p:nvGrpSpPr>
        <p:grpSpPr>
          <a:xfrm>
            <a:off x="3657600" y="10389344"/>
            <a:ext cx="3505199" cy="1643598"/>
            <a:chOff x="3510042" y="1912588"/>
            <a:chExt cx="3505199" cy="1643598"/>
          </a:xfrm>
        </p:grpSpPr>
        <p:sp>
          <p:nvSpPr>
            <p:cNvPr id="4" name="Freeform 4"/>
            <p:cNvSpPr/>
            <p:nvPr/>
          </p:nvSpPr>
          <p:spPr>
            <a:xfrm rot="21440073" flipH="1">
              <a:off x="5442080" y="3089713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 rot="91139" flipH="1">
              <a:off x="5851021" y="3112816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 rot="21440073" flipH="1">
              <a:off x="4778414" y="3134285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 rot="21393400" flipH="1">
              <a:off x="5118388" y="3133696"/>
              <a:ext cx="634484" cy="357858"/>
            </a:xfrm>
            <a:custGeom>
              <a:avLst/>
              <a:gdLst/>
              <a:ahLst/>
              <a:cxnLst/>
              <a:rect l="l" t="t" r="r" b="b"/>
              <a:pathLst>
                <a:path w="845979" h="477144">
                  <a:moveTo>
                    <a:pt x="845979" y="0"/>
                  </a:moveTo>
                  <a:lnTo>
                    <a:pt x="0" y="0"/>
                  </a:lnTo>
                  <a:lnTo>
                    <a:pt x="0" y="477145"/>
                  </a:lnTo>
                  <a:lnTo>
                    <a:pt x="845979" y="477145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81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 rot="21225036" flipH="1">
              <a:off x="4394566" y="3212916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10042" y="1912588"/>
              <a:ext cx="3505199" cy="5833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>
                <a:lnSpc>
                  <a:spcPts val="2441"/>
                </a:lnSpc>
                <a:spcBef>
                  <a:spcPct val="0"/>
                </a:spcBef>
                <a:buAutoNum type="arabicPeriod"/>
              </a:pPr>
              <a:r>
                <a:rPr lang="en-US" sz="1740" dirty="0">
                  <a:solidFill>
                    <a:srgbClr val="000000"/>
                  </a:solidFill>
                  <a:latin typeface="HK Modular"/>
                  <a:ea typeface="HK Modular"/>
                  <a:cs typeface="HK Modular"/>
                  <a:sym typeface="HK Modular"/>
                </a:rPr>
                <a:t>Data &amp; network Preparation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F259EF2-9E07-5A08-E1CE-A099E3F4BB4A}"/>
              </a:ext>
            </a:extLst>
          </p:cNvPr>
          <p:cNvGrpSpPr/>
          <p:nvPr/>
        </p:nvGrpSpPr>
        <p:grpSpPr>
          <a:xfrm>
            <a:off x="18970803" y="1008464"/>
            <a:ext cx="4574997" cy="1309958"/>
            <a:chOff x="7224047" y="2826409"/>
            <a:chExt cx="4574997" cy="1309958"/>
          </a:xfrm>
        </p:grpSpPr>
        <p:sp>
          <p:nvSpPr>
            <p:cNvPr id="14" name="Freeform 14"/>
            <p:cNvSpPr/>
            <p:nvPr/>
          </p:nvSpPr>
          <p:spPr>
            <a:xfrm rot="17919799">
              <a:off x="7687735" y="3615602"/>
              <a:ext cx="539179" cy="310376"/>
            </a:xfrm>
            <a:custGeom>
              <a:avLst/>
              <a:gdLst/>
              <a:ahLst/>
              <a:cxnLst/>
              <a:rect l="l" t="t" r="r" b="b"/>
              <a:pathLst>
                <a:path w="718905" h="413835">
                  <a:moveTo>
                    <a:pt x="0" y="0"/>
                  </a:moveTo>
                  <a:lnTo>
                    <a:pt x="718905" y="0"/>
                  </a:lnTo>
                  <a:lnTo>
                    <a:pt x="718905" y="413836"/>
                  </a:lnTo>
                  <a:lnTo>
                    <a:pt x="0" y="413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99" r="-3199"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 rot="18900000">
              <a:off x="7733665" y="3691890"/>
              <a:ext cx="541408" cy="318671"/>
            </a:xfrm>
            <a:custGeom>
              <a:avLst/>
              <a:gdLst/>
              <a:ahLst/>
              <a:cxnLst/>
              <a:rect l="l" t="t" r="r" b="b"/>
              <a:pathLst>
                <a:path w="721877" h="424894">
                  <a:moveTo>
                    <a:pt x="0" y="0"/>
                  </a:moveTo>
                  <a:lnTo>
                    <a:pt x="721877" y="0"/>
                  </a:lnTo>
                  <a:lnTo>
                    <a:pt x="721877" y="424894"/>
                  </a:lnTo>
                  <a:lnTo>
                    <a:pt x="0" y="424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396" r="-4396"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 rot="19294570">
              <a:off x="7632325" y="3822183"/>
              <a:ext cx="540188" cy="314184"/>
            </a:xfrm>
            <a:custGeom>
              <a:avLst/>
              <a:gdLst/>
              <a:ahLst/>
              <a:cxnLst/>
              <a:rect l="l" t="t" r="r" b="b"/>
              <a:pathLst>
                <a:path w="720250" h="418912">
                  <a:moveTo>
                    <a:pt x="0" y="0"/>
                  </a:moveTo>
                  <a:lnTo>
                    <a:pt x="720250" y="0"/>
                  </a:lnTo>
                  <a:lnTo>
                    <a:pt x="720250" y="418912"/>
                  </a:lnTo>
                  <a:lnTo>
                    <a:pt x="0" y="41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52" r="-3752"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 rot="1363025" flipH="1">
              <a:off x="7489801" y="3301986"/>
              <a:ext cx="539999" cy="326547"/>
            </a:xfrm>
            <a:custGeom>
              <a:avLst/>
              <a:gdLst/>
              <a:ahLst/>
              <a:cxnLst/>
              <a:rect l="l" t="t" r="r" b="b"/>
              <a:pathLst>
                <a:path w="719999" h="435396">
                  <a:moveTo>
                    <a:pt x="720000" y="0"/>
                  </a:moveTo>
                  <a:lnTo>
                    <a:pt x="0" y="0"/>
                  </a:lnTo>
                  <a:lnTo>
                    <a:pt x="0" y="435396"/>
                  </a:lnTo>
                  <a:lnTo>
                    <a:pt x="720000" y="435396"/>
                  </a:lnTo>
                  <a:lnTo>
                    <a:pt x="720000" y="0"/>
                  </a:lnTo>
                  <a:close/>
                </a:path>
              </a:pathLst>
            </a:custGeom>
            <a:blipFill>
              <a:blip r:embed="rId4"/>
              <a:stretch>
                <a:fillRect l="-3608" r="-3608" b="-81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 rot="814846" flipH="1">
              <a:off x="7224047" y="3230208"/>
              <a:ext cx="540188" cy="314184"/>
            </a:xfrm>
            <a:custGeom>
              <a:avLst/>
              <a:gdLst/>
              <a:ahLst/>
              <a:cxnLst/>
              <a:rect l="l" t="t" r="r" b="b"/>
              <a:pathLst>
                <a:path w="720250" h="418912">
                  <a:moveTo>
                    <a:pt x="720250" y="0"/>
                  </a:moveTo>
                  <a:lnTo>
                    <a:pt x="0" y="0"/>
                  </a:lnTo>
                  <a:lnTo>
                    <a:pt x="0" y="418913"/>
                  </a:lnTo>
                  <a:lnTo>
                    <a:pt x="720250" y="418913"/>
                  </a:lnTo>
                  <a:lnTo>
                    <a:pt x="720250" y="0"/>
                  </a:lnTo>
                  <a:close/>
                </a:path>
              </a:pathLst>
            </a:custGeom>
            <a:blipFill>
              <a:blip r:embed="rId4"/>
              <a:stretch>
                <a:fillRect l="-3752" r="-3752"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42022" y="2826409"/>
              <a:ext cx="3257022" cy="5644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>
                <a:lnSpc>
                  <a:spcPts val="2344"/>
                </a:lnSpc>
                <a:spcBef>
                  <a:spcPct val="0"/>
                </a:spcBef>
                <a:buFont typeface="+mj-lt"/>
                <a:buAutoNum type="arabicPeriod" startAt="2"/>
              </a:pPr>
              <a:r>
                <a:rPr lang="en-US" sz="1740" dirty="0">
                  <a:solidFill>
                    <a:srgbClr val="000000"/>
                  </a:solidFill>
                  <a:latin typeface="HK Modular"/>
                  <a:ea typeface="HK Modular"/>
                  <a:cs typeface="HK Modular"/>
                  <a:sym typeface="HK Modular"/>
                </a:rPr>
                <a:t>Static baseline setup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EF3AF1A-1478-9D75-F55D-6012F14D795C}"/>
              </a:ext>
            </a:extLst>
          </p:cNvPr>
          <p:cNvGrpSpPr/>
          <p:nvPr/>
        </p:nvGrpSpPr>
        <p:grpSpPr>
          <a:xfrm>
            <a:off x="18970803" y="5875401"/>
            <a:ext cx="3724696" cy="925111"/>
            <a:chOff x="3512822" y="3893209"/>
            <a:chExt cx="3724696" cy="925111"/>
          </a:xfrm>
        </p:grpSpPr>
        <p:sp>
          <p:nvSpPr>
            <p:cNvPr id="9" name="Freeform 9"/>
            <p:cNvSpPr/>
            <p:nvPr/>
          </p:nvSpPr>
          <p:spPr>
            <a:xfrm rot="20671585">
              <a:off x="5683969" y="4429918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0" y="0"/>
                  </a:moveTo>
                  <a:lnTo>
                    <a:pt x="845979" y="0"/>
                  </a:lnTo>
                  <a:lnTo>
                    <a:pt x="845979" y="457693"/>
                  </a:lnTo>
                  <a:lnTo>
                    <a:pt x="0" y="457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 rot="21071508">
              <a:off x="5297044" y="4475050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0" y="0"/>
                  </a:moveTo>
                  <a:lnTo>
                    <a:pt x="845979" y="0"/>
                  </a:lnTo>
                  <a:lnTo>
                    <a:pt x="845979" y="457693"/>
                  </a:lnTo>
                  <a:lnTo>
                    <a:pt x="0" y="457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 rot="20671585">
              <a:off x="6270275" y="4203583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0" y="0"/>
                  </a:moveTo>
                  <a:lnTo>
                    <a:pt x="845979" y="0"/>
                  </a:lnTo>
                  <a:lnTo>
                    <a:pt x="845979" y="457693"/>
                  </a:lnTo>
                  <a:lnTo>
                    <a:pt x="0" y="457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 rot="20671585">
              <a:off x="5970484" y="4389340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0" y="0"/>
                  </a:moveTo>
                  <a:lnTo>
                    <a:pt x="845979" y="0"/>
                  </a:lnTo>
                  <a:lnTo>
                    <a:pt x="845979" y="457693"/>
                  </a:lnTo>
                  <a:lnTo>
                    <a:pt x="0" y="457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 rot="20551103">
              <a:off x="6603034" y="4159038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0" y="0"/>
                  </a:moveTo>
                  <a:lnTo>
                    <a:pt x="845979" y="0"/>
                  </a:lnTo>
                  <a:lnTo>
                    <a:pt x="845979" y="457693"/>
                  </a:lnTo>
                  <a:lnTo>
                    <a:pt x="0" y="457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12822" y="3893209"/>
              <a:ext cx="3116578" cy="564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>
                <a:lnSpc>
                  <a:spcPts val="2344"/>
                </a:lnSpc>
                <a:spcBef>
                  <a:spcPct val="0"/>
                </a:spcBef>
                <a:buFont typeface="+mj-lt"/>
                <a:buAutoNum type="arabicPeriod" startAt="3"/>
              </a:pPr>
              <a:r>
                <a:rPr lang="en-US" sz="1740" dirty="0">
                  <a:solidFill>
                    <a:srgbClr val="000000"/>
                  </a:solidFill>
                  <a:latin typeface="HK Modular"/>
                  <a:ea typeface="HK Modular"/>
                  <a:cs typeface="HK Modular"/>
                  <a:sym typeface="HK Modular"/>
                </a:rPr>
                <a:t>RL controller development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6FABC31-3589-7583-4759-BC2ABC5D63E4}"/>
              </a:ext>
            </a:extLst>
          </p:cNvPr>
          <p:cNvGrpSpPr/>
          <p:nvPr/>
        </p:nvGrpSpPr>
        <p:grpSpPr>
          <a:xfrm>
            <a:off x="18834698" y="7736753"/>
            <a:ext cx="2624494" cy="1557652"/>
            <a:chOff x="1918215" y="5097547"/>
            <a:chExt cx="2624494" cy="1557652"/>
          </a:xfrm>
        </p:grpSpPr>
        <p:sp>
          <p:nvSpPr>
            <p:cNvPr id="24" name="Freeform 24"/>
            <p:cNvSpPr/>
            <p:nvPr/>
          </p:nvSpPr>
          <p:spPr>
            <a:xfrm rot="16198407">
              <a:off x="3706795" y="6166322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0" y="0"/>
                  </a:moveTo>
                  <a:lnTo>
                    <a:pt x="845979" y="0"/>
                  </a:lnTo>
                  <a:lnTo>
                    <a:pt x="845979" y="457693"/>
                  </a:lnTo>
                  <a:lnTo>
                    <a:pt x="0" y="457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 rot="16900817">
              <a:off x="3777151" y="5508898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0" y="0"/>
                  </a:moveTo>
                  <a:lnTo>
                    <a:pt x="845979" y="0"/>
                  </a:lnTo>
                  <a:lnTo>
                    <a:pt x="845979" y="457693"/>
                  </a:lnTo>
                  <a:lnTo>
                    <a:pt x="0" y="457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 rot="18852762">
              <a:off x="4053832" y="5243154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0" y="0"/>
                  </a:moveTo>
                  <a:lnTo>
                    <a:pt x="845979" y="0"/>
                  </a:lnTo>
                  <a:lnTo>
                    <a:pt x="845979" y="457692"/>
                  </a:lnTo>
                  <a:lnTo>
                    <a:pt x="0" y="457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 rot="16692625">
              <a:off x="3731456" y="5917803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0" y="0"/>
                  </a:moveTo>
                  <a:lnTo>
                    <a:pt x="845979" y="0"/>
                  </a:lnTo>
                  <a:lnTo>
                    <a:pt x="845979" y="457693"/>
                  </a:lnTo>
                  <a:lnTo>
                    <a:pt x="0" y="457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 rot="17742178">
              <a:off x="3797569" y="5658867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0" y="0"/>
                  </a:moveTo>
                  <a:lnTo>
                    <a:pt x="845979" y="0"/>
                  </a:lnTo>
                  <a:lnTo>
                    <a:pt x="845979" y="457693"/>
                  </a:lnTo>
                  <a:lnTo>
                    <a:pt x="0" y="457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918215" y="5341806"/>
              <a:ext cx="1822387" cy="8535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>
                <a:lnSpc>
                  <a:spcPts val="2316"/>
                </a:lnSpc>
                <a:spcBef>
                  <a:spcPct val="0"/>
                </a:spcBef>
                <a:buFont typeface="+mj-lt"/>
                <a:buAutoNum type="arabicPeriod" startAt="4"/>
              </a:pPr>
              <a:r>
                <a:rPr lang="en-US" sz="1740" dirty="0">
                  <a:solidFill>
                    <a:srgbClr val="000000"/>
                  </a:solidFill>
                  <a:latin typeface="HK Modular"/>
                  <a:ea typeface="HK Modular"/>
                  <a:cs typeface="HK Modular"/>
                  <a:sym typeface="HK Modular"/>
                </a:rPr>
                <a:t>reward function design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AA21628-E8DA-E42A-D4C2-A0586AC26581}"/>
              </a:ext>
            </a:extLst>
          </p:cNvPr>
          <p:cNvGrpSpPr/>
          <p:nvPr/>
        </p:nvGrpSpPr>
        <p:grpSpPr>
          <a:xfrm>
            <a:off x="19196758" y="2111909"/>
            <a:ext cx="3240014" cy="1024075"/>
            <a:chOff x="2054003" y="6995170"/>
            <a:chExt cx="3240014" cy="1024075"/>
          </a:xfrm>
        </p:grpSpPr>
        <p:sp>
          <p:nvSpPr>
            <p:cNvPr id="19" name="Freeform 19"/>
            <p:cNvSpPr/>
            <p:nvPr/>
          </p:nvSpPr>
          <p:spPr>
            <a:xfrm rot="3720656" flipH="1">
              <a:off x="4805140" y="7426504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 rot="3045597" flipH="1">
              <a:off x="4476052" y="7303607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 rot="2670116" flipH="1">
              <a:off x="4225459" y="7338921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 rot="2670116" flipH="1">
              <a:off x="4116260" y="6995170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 rot="2670116" flipH="1">
              <a:off x="4031613" y="7174863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054003" y="7454262"/>
              <a:ext cx="2076416" cy="564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>
                <a:lnSpc>
                  <a:spcPts val="2316"/>
                </a:lnSpc>
                <a:spcBef>
                  <a:spcPct val="0"/>
                </a:spcBef>
                <a:buFont typeface="+mj-lt"/>
                <a:buAutoNum type="arabicPeriod" startAt="5"/>
              </a:pPr>
              <a:r>
                <a:rPr lang="en-US" sz="1740" dirty="0">
                  <a:solidFill>
                    <a:srgbClr val="000000"/>
                  </a:solidFill>
                  <a:latin typeface="HK Modular"/>
                  <a:ea typeface="HK Modular"/>
                  <a:cs typeface="HK Modular"/>
                  <a:sym typeface="HK Modular"/>
                </a:rPr>
                <a:t>Training protocol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8C6994D-A8F3-9536-3EA5-356D8A310C41}"/>
              </a:ext>
            </a:extLst>
          </p:cNvPr>
          <p:cNvGrpSpPr/>
          <p:nvPr/>
        </p:nvGrpSpPr>
        <p:grpSpPr>
          <a:xfrm>
            <a:off x="19064023" y="3643083"/>
            <a:ext cx="3496386" cy="1566786"/>
            <a:chOff x="4100006" y="7843914"/>
            <a:chExt cx="3496386" cy="1566786"/>
          </a:xfrm>
        </p:grpSpPr>
        <p:sp>
          <p:nvSpPr>
            <p:cNvPr id="29" name="Freeform 29"/>
            <p:cNvSpPr/>
            <p:nvPr/>
          </p:nvSpPr>
          <p:spPr>
            <a:xfrm rot="1112174" flipH="1">
              <a:off x="6902448" y="8049192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 rot="1363242" flipH="1">
              <a:off x="6961908" y="8551191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 rot="1112174" flipH="1">
              <a:off x="5755789" y="7843914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 rot="1065501" flipH="1">
              <a:off x="6213419" y="8423349"/>
              <a:ext cx="634484" cy="357858"/>
            </a:xfrm>
            <a:custGeom>
              <a:avLst/>
              <a:gdLst/>
              <a:ahLst/>
              <a:cxnLst/>
              <a:rect l="l" t="t" r="r" b="b"/>
              <a:pathLst>
                <a:path w="845979" h="477144">
                  <a:moveTo>
                    <a:pt x="845979" y="0"/>
                  </a:moveTo>
                  <a:lnTo>
                    <a:pt x="0" y="0"/>
                  </a:lnTo>
                  <a:lnTo>
                    <a:pt x="0" y="477144"/>
                  </a:lnTo>
                  <a:lnTo>
                    <a:pt x="845979" y="477144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81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/>
            <p:cNvSpPr/>
            <p:nvPr/>
          </p:nvSpPr>
          <p:spPr>
            <a:xfrm rot="897138" flipH="1">
              <a:off x="5444583" y="8149551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100006" y="8845717"/>
              <a:ext cx="2605594" cy="564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>
                <a:lnSpc>
                  <a:spcPts val="2316"/>
                </a:lnSpc>
                <a:spcBef>
                  <a:spcPct val="0"/>
                </a:spcBef>
                <a:buFont typeface="+mj-lt"/>
                <a:buAutoNum type="arabicPeriod" startAt="6"/>
              </a:pPr>
              <a:r>
                <a:rPr lang="en-US" sz="1740" dirty="0">
                  <a:solidFill>
                    <a:srgbClr val="000000"/>
                  </a:solidFill>
                  <a:latin typeface="HK Modular"/>
                  <a:ea typeface="HK Modular"/>
                  <a:cs typeface="HK Modular"/>
                  <a:sym typeface="HK Modular"/>
                </a:rPr>
                <a:t>testing protocol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215F2CC-F73D-B6A5-F022-1161AE1E090A}"/>
              </a:ext>
            </a:extLst>
          </p:cNvPr>
          <p:cNvGrpSpPr/>
          <p:nvPr/>
        </p:nvGrpSpPr>
        <p:grpSpPr>
          <a:xfrm>
            <a:off x="18702595" y="9317393"/>
            <a:ext cx="3408764" cy="2486141"/>
            <a:chOff x="9154510" y="6819900"/>
            <a:chExt cx="3408764" cy="2486141"/>
          </a:xfrm>
        </p:grpSpPr>
        <p:sp>
          <p:nvSpPr>
            <p:cNvPr id="34" name="Freeform 34"/>
            <p:cNvSpPr/>
            <p:nvPr/>
          </p:nvSpPr>
          <p:spPr>
            <a:xfrm rot="21561670" flipH="1">
              <a:off x="11315532" y="8460307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 rot="212736" flipH="1">
              <a:off x="11928790" y="8959166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 rot="21561670" flipH="1">
              <a:off x="9154510" y="8635468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3"/>
                  </a:lnTo>
                  <a:lnTo>
                    <a:pt x="845979" y="457693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 rot="21514997" flipH="1">
              <a:off x="10967135" y="8947665"/>
              <a:ext cx="634484" cy="357858"/>
            </a:xfrm>
            <a:custGeom>
              <a:avLst/>
              <a:gdLst/>
              <a:ahLst/>
              <a:cxnLst/>
              <a:rect l="l" t="t" r="r" b="b"/>
              <a:pathLst>
                <a:path w="845979" h="477144">
                  <a:moveTo>
                    <a:pt x="845979" y="0"/>
                  </a:moveTo>
                  <a:lnTo>
                    <a:pt x="0" y="0"/>
                  </a:lnTo>
                  <a:lnTo>
                    <a:pt x="0" y="477144"/>
                  </a:lnTo>
                  <a:lnTo>
                    <a:pt x="845979" y="477144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81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 rot="21346633" flipH="1">
              <a:off x="9970584" y="8962771"/>
              <a:ext cx="634484" cy="343270"/>
            </a:xfrm>
            <a:custGeom>
              <a:avLst/>
              <a:gdLst/>
              <a:ahLst/>
              <a:cxnLst/>
              <a:rect l="l" t="t" r="r" b="b"/>
              <a:pathLst>
                <a:path w="845979" h="457693">
                  <a:moveTo>
                    <a:pt x="845979" y="0"/>
                  </a:moveTo>
                  <a:lnTo>
                    <a:pt x="0" y="0"/>
                  </a:lnTo>
                  <a:lnTo>
                    <a:pt x="0" y="457692"/>
                  </a:lnTo>
                  <a:lnTo>
                    <a:pt x="845979" y="457692"/>
                  </a:lnTo>
                  <a:lnTo>
                    <a:pt x="845979" y="0"/>
                  </a:lnTo>
                  <a:close/>
                </a:path>
              </a:pathLst>
            </a:custGeom>
            <a:blipFill>
              <a:blip r:embed="rId4"/>
              <a:stretch>
                <a:fillRect b="-127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86613" y="6819900"/>
              <a:ext cx="2524387" cy="5572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>
                <a:lnSpc>
                  <a:spcPts val="2316"/>
                </a:lnSpc>
                <a:spcBef>
                  <a:spcPct val="0"/>
                </a:spcBef>
                <a:buFont typeface="+mj-lt"/>
                <a:buAutoNum type="arabicPeriod" startAt="7"/>
              </a:pPr>
              <a:r>
                <a:rPr lang="en-US" sz="1740" dirty="0">
                  <a:solidFill>
                    <a:srgbClr val="000000"/>
                  </a:solidFill>
                  <a:latin typeface="HK Modular"/>
                  <a:ea typeface="HK Modular"/>
                  <a:cs typeface="HK Modular"/>
                  <a:sym typeface="HK Modular"/>
                </a:rPr>
                <a:t>performance        evaluation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728301" y="342925"/>
            <a:ext cx="14457933" cy="12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 spc="-80">
                <a:solidFill>
                  <a:srgbClr val="2279DF"/>
                </a:solidFill>
                <a:latin typeface="Play Bold"/>
                <a:ea typeface="Play Bold"/>
                <a:cs typeface="Play Bold"/>
                <a:sym typeface="Play Bold"/>
              </a:rPr>
              <a:t>Methodology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2119574" y="3266052"/>
            <a:ext cx="7188914" cy="8764322"/>
            <a:chOff x="0" y="0"/>
            <a:chExt cx="9585219" cy="11685763"/>
          </a:xfrm>
        </p:grpSpPr>
        <p:grpSp>
          <p:nvGrpSpPr>
            <p:cNvPr id="55" name="Group 55"/>
            <p:cNvGrpSpPr/>
            <p:nvPr/>
          </p:nvGrpSpPr>
          <p:grpSpPr>
            <a:xfrm rot="-2700000">
              <a:off x="-562750" y="7790982"/>
              <a:ext cx="7429400" cy="1485661"/>
              <a:chOff x="0" y="0"/>
              <a:chExt cx="31900754" cy="637921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31900754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31900754" h="6379210">
                    <a:moveTo>
                      <a:pt x="25204906" y="0"/>
                    </a:moveTo>
                    <a:lnTo>
                      <a:pt x="8024961" y="0"/>
                    </a:lnTo>
                    <a:lnTo>
                      <a:pt x="6736517" y="7620"/>
                    </a:lnTo>
                    <a:lnTo>
                      <a:pt x="0" y="6379210"/>
                    </a:lnTo>
                    <a:lnTo>
                      <a:pt x="25254845" y="6379210"/>
                    </a:lnTo>
                    <a:lnTo>
                      <a:pt x="31900754" y="0"/>
                    </a:lnTo>
                    <a:close/>
                  </a:path>
                </a:pathLst>
              </a:custGeom>
              <a:solidFill>
                <a:srgbClr val="1E1E1E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 rot="-2700000">
              <a:off x="3734095" y="6248668"/>
              <a:ext cx="6125442" cy="1485661"/>
              <a:chOff x="0" y="0"/>
              <a:chExt cx="26301750" cy="637921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2279D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-2700000">
              <a:off x="3831566" y="1948101"/>
              <a:ext cx="6125442" cy="1485661"/>
              <a:chOff x="0" y="0"/>
              <a:chExt cx="26301750" cy="637921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2279D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71" name="TextBox 40">
            <a:extLst>
              <a:ext uri="{FF2B5EF4-FFF2-40B4-BE49-F238E27FC236}">
                <a16:creationId xmlns:a16="http://schemas.microsoft.com/office/drawing/2014/main" id="{184CD0A2-7CE8-182A-2C17-67D81CC461C0}"/>
              </a:ext>
            </a:extLst>
          </p:cNvPr>
          <p:cNvSpPr txBox="1"/>
          <p:nvPr/>
        </p:nvSpPr>
        <p:spPr>
          <a:xfrm>
            <a:off x="12349543" y="10629900"/>
            <a:ext cx="5252657" cy="275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441"/>
              </a:lnSpc>
              <a:spcBef>
                <a:spcPct val="0"/>
              </a:spcBef>
              <a:buAutoNum type="arabicPeriod"/>
            </a:pPr>
            <a:r>
              <a:rPr lang="en-US" sz="1740" dirty="0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Data &amp; network Preparation</a:t>
            </a:r>
          </a:p>
        </p:txBody>
      </p:sp>
      <p:sp>
        <p:nvSpPr>
          <p:cNvPr id="74" name="TextBox 47">
            <a:extLst>
              <a:ext uri="{FF2B5EF4-FFF2-40B4-BE49-F238E27FC236}">
                <a16:creationId xmlns:a16="http://schemas.microsoft.com/office/drawing/2014/main" id="{E466DF05-4B9A-D38D-C1F6-D8B40B485506}"/>
              </a:ext>
            </a:extLst>
          </p:cNvPr>
          <p:cNvSpPr txBox="1"/>
          <p:nvPr/>
        </p:nvSpPr>
        <p:spPr>
          <a:xfrm>
            <a:off x="12350931" y="10958239"/>
            <a:ext cx="3955869" cy="559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344"/>
              </a:lnSpc>
              <a:spcBef>
                <a:spcPct val="0"/>
              </a:spcBef>
              <a:buFont typeface="+mj-lt"/>
              <a:buAutoNum type="arabicPeriod" startAt="2"/>
            </a:pPr>
            <a:r>
              <a:rPr lang="en-US" sz="1740" dirty="0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Static baseline setup</a:t>
            </a:r>
          </a:p>
        </p:txBody>
      </p:sp>
      <p:sp>
        <p:nvSpPr>
          <p:cNvPr id="77" name="TextBox 48">
            <a:extLst>
              <a:ext uri="{FF2B5EF4-FFF2-40B4-BE49-F238E27FC236}">
                <a16:creationId xmlns:a16="http://schemas.microsoft.com/office/drawing/2014/main" id="{441B8E4F-77D1-0158-A980-C042AE09D6CE}"/>
              </a:ext>
            </a:extLst>
          </p:cNvPr>
          <p:cNvSpPr txBox="1"/>
          <p:nvPr/>
        </p:nvSpPr>
        <p:spPr>
          <a:xfrm>
            <a:off x="12355935" y="11571112"/>
            <a:ext cx="4491565" cy="559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344"/>
              </a:lnSpc>
              <a:spcBef>
                <a:spcPct val="0"/>
              </a:spcBef>
              <a:buFont typeface="+mj-lt"/>
              <a:buAutoNum type="arabicPeriod" startAt="3"/>
            </a:pPr>
            <a:r>
              <a:rPr lang="en-US" sz="1740" dirty="0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RL controller development</a:t>
            </a:r>
          </a:p>
        </p:txBody>
      </p:sp>
      <p:sp>
        <p:nvSpPr>
          <p:cNvPr id="81" name="TextBox 49">
            <a:extLst>
              <a:ext uri="{FF2B5EF4-FFF2-40B4-BE49-F238E27FC236}">
                <a16:creationId xmlns:a16="http://schemas.microsoft.com/office/drawing/2014/main" id="{88C0628B-925F-6967-34F0-8427E646388C}"/>
              </a:ext>
            </a:extLst>
          </p:cNvPr>
          <p:cNvSpPr txBox="1"/>
          <p:nvPr/>
        </p:nvSpPr>
        <p:spPr>
          <a:xfrm>
            <a:off x="12322441" y="12181824"/>
            <a:ext cx="3984359" cy="560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316"/>
              </a:lnSpc>
              <a:spcBef>
                <a:spcPct val="0"/>
              </a:spcBef>
              <a:buFont typeface="+mj-lt"/>
              <a:buAutoNum type="arabicPeriod" startAt="4"/>
            </a:pPr>
            <a:r>
              <a:rPr lang="en-US" sz="1740" dirty="0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reward function design</a:t>
            </a:r>
          </a:p>
        </p:txBody>
      </p:sp>
      <p:sp>
        <p:nvSpPr>
          <p:cNvPr id="84" name="TextBox 50">
            <a:extLst>
              <a:ext uri="{FF2B5EF4-FFF2-40B4-BE49-F238E27FC236}">
                <a16:creationId xmlns:a16="http://schemas.microsoft.com/office/drawing/2014/main" id="{E85D21FE-CF75-82A3-BEDA-0C7C5BD30168}"/>
              </a:ext>
            </a:extLst>
          </p:cNvPr>
          <p:cNvSpPr txBox="1"/>
          <p:nvPr/>
        </p:nvSpPr>
        <p:spPr>
          <a:xfrm>
            <a:off x="12315910" y="12736872"/>
            <a:ext cx="3728684" cy="263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316"/>
              </a:lnSpc>
              <a:spcBef>
                <a:spcPct val="0"/>
              </a:spcBef>
              <a:buFont typeface="+mj-lt"/>
              <a:buAutoNum type="arabicPeriod" startAt="5"/>
            </a:pPr>
            <a:r>
              <a:rPr lang="en-US" sz="1740" dirty="0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Training protocol</a:t>
            </a:r>
          </a:p>
        </p:txBody>
      </p:sp>
      <p:sp>
        <p:nvSpPr>
          <p:cNvPr id="86" name="TextBox 51">
            <a:extLst>
              <a:ext uri="{FF2B5EF4-FFF2-40B4-BE49-F238E27FC236}">
                <a16:creationId xmlns:a16="http://schemas.microsoft.com/office/drawing/2014/main" id="{3BD97BEB-4637-5889-A8E0-08EBFD9E3B05}"/>
              </a:ext>
            </a:extLst>
          </p:cNvPr>
          <p:cNvSpPr txBox="1"/>
          <p:nvPr/>
        </p:nvSpPr>
        <p:spPr>
          <a:xfrm>
            <a:off x="12315910" y="13052119"/>
            <a:ext cx="3430623" cy="263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316"/>
              </a:lnSpc>
              <a:spcBef>
                <a:spcPct val="0"/>
              </a:spcBef>
              <a:buFont typeface="+mj-lt"/>
              <a:buAutoNum type="arabicPeriod" startAt="6"/>
            </a:pPr>
            <a:r>
              <a:rPr lang="en-US" sz="1740" dirty="0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testing protocol</a:t>
            </a:r>
          </a:p>
        </p:txBody>
      </p:sp>
      <p:sp>
        <p:nvSpPr>
          <p:cNvPr id="88" name="TextBox 52">
            <a:extLst>
              <a:ext uri="{FF2B5EF4-FFF2-40B4-BE49-F238E27FC236}">
                <a16:creationId xmlns:a16="http://schemas.microsoft.com/office/drawing/2014/main" id="{1165764C-B294-47D6-90AD-1861C660E3E4}"/>
              </a:ext>
            </a:extLst>
          </p:cNvPr>
          <p:cNvSpPr txBox="1"/>
          <p:nvPr/>
        </p:nvSpPr>
        <p:spPr>
          <a:xfrm>
            <a:off x="12322441" y="13367366"/>
            <a:ext cx="2773271" cy="558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316"/>
              </a:lnSpc>
              <a:spcBef>
                <a:spcPct val="0"/>
              </a:spcBef>
              <a:buFont typeface="+mj-lt"/>
              <a:buAutoNum type="arabicPeriod" startAt="7"/>
            </a:pPr>
            <a:r>
              <a:rPr lang="en-US" sz="1740" dirty="0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performance        evaluation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25000" decel="2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682 -0.825 L -0.0013 -0.8229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76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162 -0.84367 L -0.00278 -0.84583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38" y="-1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658 0.10525 L -0.7539 0.10525 C -0.70382 0.10525 -0.64192 0.125 -0.64192 0.14121 L -0.64192 0.17716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89" y="35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644 -0.79121 L -0.00278 -0.84584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79" y="-2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3342 -0.27469 L -0.83247 -0.20077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57" y="36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6788 -0.75186 L -0.00278 -0.84584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55" y="-47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662 -0.3855 L -0.86259 -0.3855 C -0.88889 -0.3855 -0.92387 -0.35031 -0.92387 -0.3233 L -0.92387 -0.26111 " pathEditMode="relative" rAng="0" ptsTypes="AAAA">
                                      <p:cBhvr>
                                        <p:cTn id="37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63" y="62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8481 -0.64414 L -0.00278 -0.84583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97" y="-10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95677 0.31173 L -0.93741 0.47469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4" y="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7735 -0.52084 L -0.00278 -0.84584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724" y="-16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93941 0.29938 L -0.81719 0.41481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11" y="57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5156 -0.41868 L -0.00278 -0.84584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39" y="-213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283 -0.2895 L -0.52413 -0.23827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08" y="25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485 -0.63179 L -0.00278 -0.84583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99" y="-107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4" grpId="0"/>
      <p:bldP spid="77" grpId="0"/>
      <p:bldP spid="81" grpId="0"/>
      <p:bldP spid="84" grpId="0"/>
      <p:bldP spid="86" grpId="0"/>
      <p:bldP spid="8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12572" y="5143500"/>
            <a:ext cx="7606649" cy="4898071"/>
          </a:xfrm>
          <a:custGeom>
            <a:avLst/>
            <a:gdLst/>
            <a:ahLst/>
            <a:cxnLst/>
            <a:rect l="l" t="t" r="r" b="b"/>
            <a:pathLst>
              <a:path w="7530449" h="4706530">
                <a:moveTo>
                  <a:pt x="0" y="0"/>
                </a:moveTo>
                <a:lnTo>
                  <a:pt x="7530449" y="0"/>
                </a:lnTo>
                <a:lnTo>
                  <a:pt x="7530449" y="4706530"/>
                </a:lnTo>
                <a:lnTo>
                  <a:pt x="0" y="4706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84457" y="2576240"/>
            <a:ext cx="8659543" cy="6453460"/>
          </a:xfrm>
          <a:custGeom>
            <a:avLst/>
            <a:gdLst/>
            <a:ahLst/>
            <a:cxnLst/>
            <a:rect l="l" t="t" r="r" b="b"/>
            <a:pathLst>
              <a:path w="8215233" h="5134520">
                <a:moveTo>
                  <a:pt x="0" y="0"/>
                </a:moveTo>
                <a:lnTo>
                  <a:pt x="8215233" y="0"/>
                </a:lnTo>
                <a:lnTo>
                  <a:pt x="8215233" y="5134520"/>
                </a:lnTo>
                <a:lnTo>
                  <a:pt x="0" y="513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10800" y="588958"/>
            <a:ext cx="7742141" cy="4554542"/>
          </a:xfrm>
          <a:custGeom>
            <a:avLst/>
            <a:gdLst/>
            <a:ahLst/>
            <a:cxnLst/>
            <a:rect l="l" t="t" r="r" b="b"/>
            <a:pathLst>
              <a:path w="7496472" h="4131914">
                <a:moveTo>
                  <a:pt x="0" y="0"/>
                </a:moveTo>
                <a:lnTo>
                  <a:pt x="7496472" y="0"/>
                </a:lnTo>
                <a:lnTo>
                  <a:pt x="7496472" y="4131913"/>
                </a:lnTo>
                <a:lnTo>
                  <a:pt x="0" y="4131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61420" y="400075"/>
            <a:ext cx="14457933" cy="12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 spc="-80">
                <a:solidFill>
                  <a:srgbClr val="2279DF"/>
                </a:solidFill>
                <a:latin typeface="Play Bold"/>
                <a:ea typeface="Play Bold"/>
                <a:cs typeface="Play Bold"/>
                <a:sym typeface="Play Bold"/>
              </a:rPr>
              <a:t>Experimental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62989" y="0"/>
            <a:ext cx="8457057" cy="10287000"/>
          </a:xfrm>
          <a:custGeom>
            <a:avLst/>
            <a:gdLst/>
            <a:ahLst/>
            <a:cxnLst/>
            <a:rect l="l" t="t" r="r" b="b"/>
            <a:pathLst>
              <a:path w="8457057" h="10287000">
                <a:moveTo>
                  <a:pt x="0" y="0"/>
                </a:moveTo>
                <a:lnTo>
                  <a:pt x="8457058" y="0"/>
                </a:lnTo>
                <a:lnTo>
                  <a:pt x="84570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256099" y="1613167"/>
            <a:ext cx="14457933" cy="12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 spc="-80">
                <a:solidFill>
                  <a:srgbClr val="2279DF"/>
                </a:solidFill>
                <a:latin typeface="Play Bold"/>
                <a:ea typeface="Play Bold"/>
                <a:cs typeface="Play Bold"/>
                <a:sym typeface="Play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95642"/>
            <a:ext cx="10239073" cy="434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l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1E1E1E"/>
                </a:solidFill>
                <a:latin typeface="Play"/>
                <a:ea typeface="Play"/>
                <a:cs typeface="Play"/>
                <a:sym typeface="Play"/>
              </a:rPr>
              <a:t>Outperforms fixed-time static baseline</a:t>
            </a:r>
          </a:p>
          <a:p>
            <a:pPr marL="755646" lvl="1" indent="-377823" algn="l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1E1E1E"/>
                </a:solidFill>
                <a:latin typeface="Play"/>
                <a:ea typeface="Play"/>
                <a:cs typeface="Play"/>
                <a:sym typeface="Play"/>
              </a:rPr>
              <a:t>Improves flow and emissions</a:t>
            </a:r>
          </a:p>
          <a:p>
            <a:pPr marL="755646" lvl="1" indent="-377823" algn="l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1E1E1E"/>
                </a:solidFill>
                <a:latin typeface="Play"/>
                <a:ea typeface="Play"/>
                <a:cs typeface="Play"/>
                <a:sym typeface="Play"/>
              </a:rPr>
              <a:t>Scale with real-world data</a:t>
            </a:r>
          </a:p>
          <a:p>
            <a:pPr marL="755646" lvl="1" indent="-377823" algn="l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1E1E1E"/>
                </a:solidFill>
                <a:latin typeface="Play"/>
                <a:ea typeface="Play"/>
                <a:cs typeface="Play"/>
                <a:sym typeface="Play"/>
              </a:rPr>
              <a:t>Model heterogeneous driver behavior</a:t>
            </a:r>
          </a:p>
          <a:p>
            <a:pPr algn="l">
              <a:lnSpc>
                <a:spcPts val="6999"/>
              </a:lnSpc>
            </a:pPr>
            <a:endParaRPr lang="en-US" sz="3499">
              <a:solidFill>
                <a:srgbClr val="1E1E1E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06385" y="3624359"/>
            <a:ext cx="9075230" cy="3466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59"/>
              </a:lnSpc>
            </a:pPr>
            <a:r>
              <a:rPr lang="en-US" sz="11961">
                <a:solidFill>
                  <a:srgbClr val="2279DF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119574" y="3266052"/>
            <a:ext cx="7188914" cy="8764322"/>
            <a:chOff x="0" y="0"/>
            <a:chExt cx="9585219" cy="11685763"/>
          </a:xfrm>
        </p:grpSpPr>
        <p:grpSp>
          <p:nvGrpSpPr>
            <p:cNvPr id="4" name="Group 4"/>
            <p:cNvGrpSpPr/>
            <p:nvPr/>
          </p:nvGrpSpPr>
          <p:grpSpPr>
            <a:xfrm rot="-2700000">
              <a:off x="-562750" y="7790982"/>
              <a:ext cx="7429400" cy="1485661"/>
              <a:chOff x="0" y="0"/>
              <a:chExt cx="31900754" cy="637921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1900754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31900754" h="6379210">
                    <a:moveTo>
                      <a:pt x="25204906" y="0"/>
                    </a:moveTo>
                    <a:lnTo>
                      <a:pt x="8024961" y="0"/>
                    </a:lnTo>
                    <a:lnTo>
                      <a:pt x="6736517" y="7620"/>
                    </a:lnTo>
                    <a:lnTo>
                      <a:pt x="0" y="6379210"/>
                    </a:lnTo>
                    <a:lnTo>
                      <a:pt x="25254845" y="6379210"/>
                    </a:lnTo>
                    <a:lnTo>
                      <a:pt x="31900754" y="0"/>
                    </a:lnTo>
                    <a:close/>
                  </a:path>
                </a:pathLst>
              </a:custGeom>
              <a:solidFill>
                <a:srgbClr val="1E1E1E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-2700000">
              <a:off x="3734095" y="6248668"/>
              <a:ext cx="6125442" cy="1485661"/>
              <a:chOff x="0" y="0"/>
              <a:chExt cx="26301750" cy="637921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2279D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2700000">
              <a:off x="3831566" y="1948101"/>
              <a:ext cx="6125442" cy="1485661"/>
              <a:chOff x="0" y="0"/>
              <a:chExt cx="26301750" cy="637921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2279D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86</Words>
  <Application>Microsoft Office PowerPoint</Application>
  <PresentationFormat>Custom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Play Bold</vt:lpstr>
      <vt:lpstr>Calibri</vt:lpstr>
      <vt:lpstr>Copperplate Gothic 32 AB</vt:lpstr>
      <vt:lpstr>HK Modular</vt:lpstr>
      <vt:lpstr>Arial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Members – Suyash Batra (23030124105) Safi Rangara (23030124117) Asmit George (23030124104)</dc:title>
  <cp:lastModifiedBy>suyash batra</cp:lastModifiedBy>
  <cp:revision>8</cp:revision>
  <dcterms:created xsi:type="dcterms:W3CDTF">2006-08-16T00:00:00Z</dcterms:created>
  <dcterms:modified xsi:type="dcterms:W3CDTF">2025-12-18T19:40:31Z</dcterms:modified>
  <dc:identifier>DAGzI0FfoVM</dc:identifier>
</cp:coreProperties>
</file>